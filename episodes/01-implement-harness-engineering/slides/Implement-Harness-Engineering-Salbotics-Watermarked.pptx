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9a3d2d4bb2485f" /><Relationship Type="http://schemas.openxmlformats.org/officeDocument/2006/relationships/extended-properties" Target="/docProps/app.xml" Id="R553fd6be07e74e8f" /><Relationship Type="http://schemas.openxmlformats.org/officeDocument/2006/relationships/officeDocument" Target="/ppt/presentation.xml" Id="Rdfa695ad62f44f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3badf6bd994ab5"/>
  </p:sldMasterIdLst>
  <p:notesMasterIdLst>
    <p:notesMasterId xmlns:r="http://schemas.openxmlformats.org/officeDocument/2006/relationships" r:id="R393782d2b32345fd"/>
  </p:notesMasterIdLst>
  <p:sldIdLst>
    <p:sldId xmlns:r="http://schemas.openxmlformats.org/officeDocument/2006/relationships" id="256" r:id="R43809dd041bf4b28"/>
    <p:sldId xmlns:r="http://schemas.openxmlformats.org/officeDocument/2006/relationships" id="257" r:id="R5484775ef7ff4bcd"/>
    <p:sldId xmlns:r="http://schemas.openxmlformats.org/officeDocument/2006/relationships" id="258" r:id="Rb7a75028dc414483"/>
    <p:sldId xmlns:r="http://schemas.openxmlformats.org/officeDocument/2006/relationships" id="259" r:id="R9918a1ca3478437f"/>
    <p:sldId xmlns:r="http://schemas.openxmlformats.org/officeDocument/2006/relationships" id="260" r:id="R4bc19d6d7b2042e8"/>
    <p:sldId xmlns:r="http://schemas.openxmlformats.org/officeDocument/2006/relationships" id="261" r:id="R39a2808bb2194619"/>
    <p:sldId xmlns:r="http://schemas.openxmlformats.org/officeDocument/2006/relationships" id="262" r:id="R0acd361869394ea5"/>
    <p:sldId xmlns:r="http://schemas.openxmlformats.org/officeDocument/2006/relationships" id="263" r:id="Rc42a6f79c8a741c4"/>
    <p:sldId xmlns:r="http://schemas.openxmlformats.org/officeDocument/2006/relationships" id="264" r:id="R433f5a4e6aa242cb"/>
    <p:sldId xmlns:r="http://schemas.openxmlformats.org/officeDocument/2006/relationships" id="265" r:id="R07bb919eefaa444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3badf6bd994ab5" /><Relationship Type="http://schemas.openxmlformats.org/officeDocument/2006/relationships/theme" Target="/ppt/theme/theme1.xml" Id="R5c3d76bcd6394e27" /><Relationship Type="http://schemas.openxmlformats.org/officeDocument/2006/relationships/notesMaster" Target="/ppt/notesMasters/notesMaster1.xml" Id="R393782d2b32345fd" /><Relationship Type="http://schemas.openxmlformats.org/officeDocument/2006/relationships/presProps" Target="/ppt/presProps.xml" Id="R08c46660b2e44dcc" /><Relationship Type="http://schemas.openxmlformats.org/officeDocument/2006/relationships/viewProps" Target="/ppt/viewProps.xml" Id="R85cd579119e44a75" /><Relationship Type="http://schemas.openxmlformats.org/officeDocument/2006/relationships/tableStyles" Target="/ppt/tableStyles.xml" Id="R523f416806754131" /><Relationship Type="http://schemas.openxmlformats.org/officeDocument/2006/relationships/slide" Target="/ppt/slides/slide1.xml" Id="R43809dd041bf4b28" /><Relationship Type="http://schemas.openxmlformats.org/officeDocument/2006/relationships/slide" Target="/ppt/slides/slide2.xml" Id="R5484775ef7ff4bcd" /><Relationship Type="http://schemas.openxmlformats.org/officeDocument/2006/relationships/slide" Target="/ppt/slides/slide3.xml" Id="Rb7a75028dc414483" /><Relationship Type="http://schemas.openxmlformats.org/officeDocument/2006/relationships/slide" Target="/ppt/slides/slide4.xml" Id="R9918a1ca3478437f" /><Relationship Type="http://schemas.openxmlformats.org/officeDocument/2006/relationships/slide" Target="/ppt/slides/slide5.xml" Id="R4bc19d6d7b2042e8" /><Relationship Type="http://schemas.openxmlformats.org/officeDocument/2006/relationships/slide" Target="/ppt/slides/slide6.xml" Id="R39a2808bb2194619" /><Relationship Type="http://schemas.openxmlformats.org/officeDocument/2006/relationships/slide" Target="/ppt/slides/slide7.xml" Id="R0acd361869394ea5" /><Relationship Type="http://schemas.openxmlformats.org/officeDocument/2006/relationships/slide" Target="/ppt/slides/slide8.xml" Id="Rc42a6f79c8a741c4" /><Relationship Type="http://schemas.openxmlformats.org/officeDocument/2006/relationships/slide" Target="/ppt/slides/slide9.xml" Id="R433f5a4e6aa242cb" /><Relationship Type="http://schemas.openxmlformats.org/officeDocument/2006/relationships/slide" Target="/ppt/slides/slide10.xml" Id="R07bb919eefaa44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a176165d80f44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db8d86217a468f" /><Relationship Type="http://schemas.openxmlformats.org/officeDocument/2006/relationships/notesMaster" Target="/ppt/notesMasters/notesMaster1.xml" Id="Rdcf2f081cab047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0e834265b74566" /><Relationship Type="http://schemas.openxmlformats.org/officeDocument/2006/relationships/notesMaster" Target="/ppt/notesMasters/notesMaster1.xml" Id="Ref0895969ddc48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1d45ec43064062" /><Relationship Type="http://schemas.openxmlformats.org/officeDocument/2006/relationships/notesMaster" Target="/ppt/notesMasters/notesMaster1.xml" Id="R8925aafa42bc40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7a2978fb544f52" /><Relationship Type="http://schemas.openxmlformats.org/officeDocument/2006/relationships/notesMaster" Target="/ppt/notesMasters/notesMaster1.xml" Id="R7fc5ff0c3aa147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2b1e8595ee4333" /><Relationship Type="http://schemas.openxmlformats.org/officeDocument/2006/relationships/notesMaster" Target="/ppt/notesMasters/notesMaster1.xml" Id="R0c3eb29f3e6940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f92fa71dd54a36" /><Relationship Type="http://schemas.openxmlformats.org/officeDocument/2006/relationships/notesMaster" Target="/ppt/notesMasters/notesMaster1.xml" Id="R1014c7c04d374a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54da8cd71f4841" /><Relationship Type="http://schemas.openxmlformats.org/officeDocument/2006/relationships/notesMaster" Target="/ppt/notesMasters/notesMaster1.xml" Id="R4041a992b79148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9cf5ea2bfc4cb5" /><Relationship Type="http://schemas.openxmlformats.org/officeDocument/2006/relationships/notesMaster" Target="/ppt/notesMasters/notesMaster1.xml" Id="R5e692ecaebd247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344ea54a41479f" /><Relationship Type="http://schemas.openxmlformats.org/officeDocument/2006/relationships/notesMaster" Target="/ppt/notesMasters/notesMaster1.xml" Id="Rb5aee41d2afd45a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d2c50f159743e5" /><Relationship Type="http://schemas.openxmlformats.org/officeDocument/2006/relationships/notesMaster" Target="/ppt/notesMasters/notesMaster1.xml" Id="Rfee7ba25c3434e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audience pain, not theory.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"Tomorrow's talk is about people who already have expertise. Doctors, chemical engineers, 3D artists, builders. You have been playing with AI. Sometimes it feels magical. Sometimes it becomes a rabbit hole.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My claim is simple: vibing is not the problem. Unmanaged vibing is. Harness engineering is how we keep exploration useful."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Tell the story: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"You ask AI to build something simple. Then it asks you to install a thing. Then it changes framework. Then it creates files you did not ask for. Then it explains an error using words that sound confident. Thirty minutes later: 12 files, 6 errors, no idea what happened."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Define rabbit hole using four causes: goal drift, missing context, no stop rule, no review loop.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harness engineering: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"A harness is not a cage. It is the thing that lets power move safely. In AI work, the harness is reusable structure around the conversation."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Repeat formula slowly: goal, context, path, checkpoints, exit criteria.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Punchline: do not prompt harder. Harness better.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Before-and-after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the bad prompt first with a smile: "Build me an app..." This is not a bad human. This is a naked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Then show the harnessed prompt. The important parts are not fancy words. The important parts are boundaries: ask before action, checkpoint after each step, stop when done.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the template as copy-ready: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"You can use this tomorrow. Replace the bracketed bits. If you are a doctor, your domain terms go into background. If you are a chemical engineer, safety constraints go into constraints. If you are a 3D animator, art style and pipeline constraints go there."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Make it feel portable, not technical.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to AI Engineer Europe idea: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"Patrick Debois described context as something we engineer, not something we randomly paste. The lifecycle is simple: generate context, evaluate it, distribute it, observe what happens."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over-teach CDLC. Use it as validation: this is not just prompt hacks. It is an operating loop.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context packs: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"A context pack is a little folder of reusable knowledge. It is not a tool lock-in. It can be markdown. It can travel across AI tools."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Stress open standard posture: AGENTS.md, GEMINI.md, SKILL.md style files are plain text ways to share how work should be done.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Library ladder: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"Do not start with a huge library. Start with one prompt you use twice. Turn it into a checklist. Add domain rules. Add examples. Share it with one person. Then improve based on what breaks."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should feel next step is small and reachable.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Checkpoint rule: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"This rule is the cheapest anti-rabbit-hole tool I know. After each major step, make AI summarize what changed, what remains, and where risk is."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why: it converts hidden movement into visible progress.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practical assignment: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"Pick one task you repeat often. Build one context pack. Use it three times. Improve it once. Share it with one person."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Final line: Your expertise is the context. Harness engineering is how you make AI use it without dragging you into the hole.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6d86415401448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fcc35b21c5740d7" /><Relationship Type="http://schemas.openxmlformats.org/officeDocument/2006/relationships/slideLayout" Target="/ppt/slideLayouts/slideLayout2.xml" Id="R9e05bfa30dac49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05bfa30dac49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5ceb33230a4487" /><Relationship Type="http://schemas.openxmlformats.org/officeDocument/2006/relationships/notesSlide" Target="/ppt/notesSlides/notesSlide1.xml" Id="Reda3e12241d843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6d318f85594013" /><Relationship Type="http://schemas.openxmlformats.org/officeDocument/2006/relationships/notesSlide" Target="/ppt/notesSlides/notesSlide2.xml" Id="R3f085a0eccfa49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67cb71b59544c7" /><Relationship Type="http://schemas.openxmlformats.org/officeDocument/2006/relationships/notesSlide" Target="/ppt/notesSlides/notesSlide3.xml" Id="R15395f6452994d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d3cd4b213d4a92" /><Relationship Type="http://schemas.openxmlformats.org/officeDocument/2006/relationships/notesSlide" Target="/ppt/notesSlides/notesSlide4.xml" Id="R915c2a529c1343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979ce04c734ffd" /><Relationship Type="http://schemas.openxmlformats.org/officeDocument/2006/relationships/notesSlide" Target="/ppt/notesSlides/notesSlide5.xml" Id="R9ff6e9e1199940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5f283569104303" /><Relationship Type="http://schemas.openxmlformats.org/officeDocument/2006/relationships/notesSlide" Target="/ppt/notesSlides/notesSlide6.xml" Id="R0edbc635d07348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a3dedd96f84266" /><Relationship Type="http://schemas.openxmlformats.org/officeDocument/2006/relationships/notesSlide" Target="/ppt/notesSlides/notesSlide7.xml" Id="R81e21f38aa4640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4abd3d423e4ec0" /><Relationship Type="http://schemas.openxmlformats.org/officeDocument/2006/relationships/notesSlide" Target="/ppt/notesSlides/notesSlide8.xml" Id="R0cc6c34555014ad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2558c0d5594502" /><Relationship Type="http://schemas.openxmlformats.org/officeDocument/2006/relationships/notesSlide" Target="/ppt/notesSlides/notesSlide9.xml" Id="R51397e71973747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6cd0414d934d65" /><Relationship Type="http://schemas.openxmlformats.org/officeDocument/2006/relationships/notesSlide" Target="/ppt/notesSlides/notesSlide10.xml" Id="R5f1019747c13465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D67F97-6F6E-4EDC-9697-36235081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6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7DCC6B-2270-46BB-88E1-D6C71498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B7A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AFC71B-5440-45C1-B676-B638E8ED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7239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750" b="1" i="0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t>Implement Harness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5926AD-8A56-40A1-A7E7-D1337FEF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7048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2E3640"/>
                </a:solidFill>
                <a:latin typeface="Aptos"/>
                <a:ea typeface="Aptos"/>
                <a:cs typeface="Aptos"/>
              </a:defRPr>
            </a:pPr>
            <a:r>
              <a:t>A clear path to minimize rabbit holes while vibing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A1A42-C850-44DC-A025-4B9F3779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04850"/>
            <a:ext cx="3238500" cy="428625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28D04C-55F7-4624-B425-6362F005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123950"/>
            <a:ext cx="990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F26755"/>
                </a:solidFill>
                <a:latin typeface="Aptos"/>
                <a:ea typeface="Aptos"/>
                <a:cs typeface="Aptos"/>
              </a:defRPr>
            </a:pPr>
            <a:r>
              <a:t>vibe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B1D230-7DFF-4427-A979-69F72AAB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57350"/>
            <a:ext cx="20002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F26755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8A149-6733-4616-8B77-F164DAF1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52650"/>
            <a:ext cx="12001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F2C84B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C640C9-67AF-4444-8AC6-BC5C4F1E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47950"/>
            <a:ext cx="224790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4A8D8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A9FC72-E0B0-4509-B3B4-EAF27CB8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163830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51B7A3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2F3789-2544-4C62-9574-2B66DA1B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576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0707C"/>
                </a:solidFill>
                <a:latin typeface="Aptos"/>
                <a:ea typeface="Aptos"/>
                <a:cs typeface="Aptos"/>
              </a:defRPr>
            </a:pPr>
            <a:r>
              <a:t>without harness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4620A8-4AFD-4675-A5E9-950E6D8B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400550"/>
            <a:ext cx="213360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7212B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819649-9A4A-44FF-A890-2717C57E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52950"/>
            <a:ext cx="1866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51B7A3"/>
                </a:solidFill>
                <a:latin typeface="Aptos"/>
                <a:ea typeface="Aptos"/>
                <a:cs typeface="Aptos"/>
              </a:defRPr>
            </a:pPr>
            <a:r>
              <a:t>with harness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621A8E-0B1C-4BAA-A729-3DA038BB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14800"/>
            <a:ext cx="6096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Vibing is not the problem.</a:t>
            </a:r>
          </a:p>
          <a:p xmlns:a="http://schemas.openxmlformats.org/drawingml/2006/main">
            <a:pPr algn="l">
              <a:buNone/>
              <a:defRPr sz="2700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Unmanaged vibing is.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824D60-60B4-4877-9BF6-4454DEB9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71450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1B7A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B469F6-4655-4C76-8E23-790AD636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81650"/>
            <a:ext cx="1371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51B7A3"/>
                </a:solidFill>
                <a:latin typeface="Aptos"/>
                <a:ea typeface="Aptos"/>
                <a:cs typeface="Aptos"/>
              </a:defRPr>
            </a:pPr>
            <a:r>
              <a:t>15-20 min talk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564C2F-CCE4-4648-BE91-404563EE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67350"/>
            <a:ext cx="25717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4A8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CE7F19-376F-4598-9D13-544248EC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581650"/>
            <a:ext cx="2228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74A8D8"/>
                </a:solidFill>
                <a:latin typeface="Aptos"/>
                <a:ea typeface="Aptos"/>
                <a:cs typeface="Aptos"/>
              </a:defRPr>
            </a:pPr>
            <a:r>
              <a:t>non-technical builders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A0CAA2-DEF1-4D9E-8DE6-EEBEE2B3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467350"/>
            <a:ext cx="228600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267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E07D58-74E9-4267-8A73-9AC0A2D5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581650"/>
            <a:ext cx="1943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26755"/>
                </a:solidFill>
                <a:latin typeface="Aptos"/>
                <a:ea typeface="Aptos"/>
                <a:cs typeface="Aptos"/>
              </a:defRPr>
            </a:pPr>
            <a:r>
              <a:t>copy-ready template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95998C-3EF7-4A26-9D45-74EADF3C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DD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644E58-5FA4-46DB-9D02-C87F1419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3714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0707C"/>
                </a:solidFill>
                <a:latin typeface="Aptos"/>
                <a:ea typeface="Aptos"/>
                <a:cs typeface="Aptos"/>
              </a:defRPr>
            </a:pPr>
            <a:r>
              <a:t>Implement Harness Engineering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9B8266-DA9B-4645-B162-AA1B158E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3415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60707C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4F5C5F-08B2-4E46-8268-B6A9AA24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0707C"/>
                </a:solidFill>
                <a:latin typeface="Aptos"/>
                <a:ea typeface="Aptos"/>
                <a:cs typeface="Aptos"/>
              </a:defRPr>
            </a:pPr>
            <a:r>
              <a:t>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DEBAB0-7D60-45D2-AE61-7520A7C2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"/>
            <a:ext cx="3314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8F6"/>
          </a:solidFill>
          <a:ln xmlns:a="http://schemas.openxmlformats.org/drawingml/2006/main" w="7620">
            <a:solidFill>
              <a:srgbClr val="D8DE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52EC9B-6A0B-4705-9B2C-9876BD2D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1475"/>
            <a:ext cx="139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A9694"/>
                </a:solidFill>
                <a:latin typeface="Aptos"/>
                <a:ea typeface="Aptos"/>
                <a:cs typeface="Aptos"/>
              </a:defRPr>
            </a:pPr>
            <a:r>
              <a:t>Salbotics Solutions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D1B1D0-B862-4ED5-A097-E99CD92F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71475"/>
            <a:ext cx="156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9AA4A2"/>
                </a:solidFill>
                <a:latin typeface="Aptos"/>
                <a:ea typeface="Aptos"/>
                <a:cs typeface="Aptos"/>
              </a:defRPr>
            </a:pPr>
            <a:r>
              <a:t>Built for Real World, Not Textbook.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4B6CF8-46B2-4070-AA73-0A56375B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61975"/>
            <a:ext cx="14668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1B7A3"/>
          </a:solidFill>
        </p:spPr>
      </p:sp>
    </p:spTree>
    <p:extLst>
      <p:ext uri="{BB962C8B-B14F-4D97-AF65-F5344CB8AC3E}">
        <p14:creationId xmlns:p14="http://schemas.microsoft.com/office/powerpoint/2010/main" val="101593272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24757F-8D47-409D-838A-64929468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6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A375B-3A97-4018-A4E0-1C0673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B7A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9C6A02-FF5C-43CB-8E9F-9FF62922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25717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FFF4F1"/>
          </a:solidFill>
          <a:ln xmlns:a="http://schemas.openxmlformats.org/drawingml/2006/main" w="14288">
            <a:solidFill>
              <a:srgbClr val="F267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D53409-BC29-48CA-977D-E68D7877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"/>
            <a:ext cx="2228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26755"/>
                </a:solidFill>
                <a:latin typeface="Aptos"/>
                <a:ea typeface="Aptos"/>
                <a:cs typeface="Aptos"/>
              </a:defRPr>
            </a:pPr>
            <a:r>
              <a:t>THE PAIN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31BC3E-C422-470E-8996-D6D919A5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9334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t>Rabbit holes happen when AI has motion without rails.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EC4305-D195-461F-B1E8-B9129A22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B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4CEB5F-D5AD-4868-91DE-11A382EA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7620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755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64C2F6-1717-48AA-AE18-F58FFA2B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1924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26755"/>
                </a:solidFill>
                <a:latin typeface="Aptos"/>
                <a:ea typeface="Aptos"/>
                <a:cs typeface="Aptos"/>
              </a:defRPr>
            </a:pPr>
            <a:r>
              <a:t>Goal drift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81B93C-DABD-4D6F-B133-1879C4BF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19240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E3640"/>
                </a:solidFill>
                <a:latin typeface="Aptos"/>
                <a:ea typeface="Aptos"/>
                <a:cs typeface="Aptos"/>
              </a:defRPr>
            </a:pPr>
            <a:r>
              <a:t>The task quietly changes from "simple app" to framework archaeology.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23700F-DB22-49F3-AD21-6BE3E14F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81250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B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46B24A-1A44-4962-B71D-BDF9AF49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81250"/>
            <a:ext cx="7620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4A8D8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425333-A0FA-4C1E-9901-404CBC4B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90800"/>
            <a:ext cx="1924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74A8D8"/>
                </a:solidFill>
                <a:latin typeface="Aptos"/>
                <a:ea typeface="Aptos"/>
                <a:cs typeface="Aptos"/>
              </a:defRPr>
            </a:pPr>
            <a:r>
              <a:t>Missing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0EEC10-58FB-4074-AA84-A4F783C1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52750"/>
            <a:ext cx="19240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E3640"/>
                </a:solidFill>
                <a:latin typeface="Aptos"/>
                <a:ea typeface="Aptos"/>
                <a:cs typeface="Aptos"/>
              </a:defRPr>
            </a:pPr>
            <a:r>
              <a:t>AI guesses your domain, tools, terms, and risk tolerance.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8ACAF5-DEC9-486D-A2AC-57D33BF5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81250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B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1405DD-950B-4BFB-BDBF-0E537AB1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81250"/>
            <a:ext cx="7620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84B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D2A4D1-1F5D-4798-8340-904235E0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90800"/>
            <a:ext cx="1924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2C84B"/>
                </a:solidFill>
                <a:latin typeface="Aptos"/>
                <a:ea typeface="Aptos"/>
                <a:cs typeface="Aptos"/>
              </a:defRPr>
            </a:pPr>
            <a:r>
              <a:t>No stop rule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84C0FE-7D9B-4FEF-8807-9E64EB28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19240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E3640"/>
                </a:solidFill>
                <a:latin typeface="Aptos"/>
                <a:ea typeface="Aptos"/>
                <a:cs typeface="Aptos"/>
              </a:defRPr>
            </a:pPr>
            <a:r>
              <a:t>The chat keeps expanding because nobody defined "done".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81628A-30C9-4836-A436-426B3820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81250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B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A7B27A-DE4C-49E1-8A97-D8607B58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81250"/>
            <a:ext cx="7620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1B7A3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377E71-F2BE-4E0A-B877-FB5E24BA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90800"/>
            <a:ext cx="1924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51B7A3"/>
                </a:solidFill>
                <a:latin typeface="Aptos"/>
                <a:ea typeface="Aptos"/>
                <a:cs typeface="Aptos"/>
              </a:defRPr>
            </a:pPr>
            <a:r>
              <a:t>No review loop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60C3B0-3109-46B6-A47B-1C330EAB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52750"/>
            <a:ext cx="19240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E3640"/>
                </a:solidFill>
                <a:latin typeface="Aptos"/>
                <a:ea typeface="Aptos"/>
                <a:cs typeface="Aptos"/>
              </a:defRPr>
            </a:pPr>
            <a:r>
              <a:t>Changes pile up before you understand what changed.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14F99D-CE91-4D3A-9FD0-82158DA0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86350"/>
            <a:ext cx="9372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4F1"/>
          </a:solidFill>
          <a:ln xmlns:a="http://schemas.openxmlformats.org/drawingml/2006/main" w="9525">
            <a:solidFill>
              <a:srgbClr val="F2675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9EB433-0193-4147-A517-BFD58FFC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19700"/>
            <a:ext cx="876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"I asked AI to build an app, now I have 12 files, 6 errors, and no idea what happened."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CD3B71-0D22-41FC-8127-18F55BDD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DD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782CA6-CF3D-4724-A92D-001082D7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3714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0707C"/>
                </a:solidFill>
                <a:latin typeface="Aptos"/>
                <a:ea typeface="Aptos"/>
                <a:cs typeface="Aptos"/>
              </a:defRPr>
            </a:pPr>
            <a:r>
              <a:t>Implement Harness Engineering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96369D-8215-42C9-829F-FB7A17D5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3415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60707C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D50B93-7160-453E-B167-3F10D239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0707C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BA7378-07E9-4C2B-8FA1-471A9B19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"/>
            <a:ext cx="3314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8F6"/>
          </a:solidFill>
          <a:ln xmlns:a="http://schemas.openxmlformats.org/drawingml/2006/main" w="7620">
            <a:solidFill>
              <a:srgbClr val="D8DED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F3C196-94B9-463C-B040-6F28D7E2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1475"/>
            <a:ext cx="139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A9694"/>
                </a:solidFill>
                <a:latin typeface="Aptos"/>
                <a:ea typeface="Aptos"/>
                <a:cs typeface="Aptos"/>
              </a:defRPr>
            </a:pPr>
            <a:r>
              <a:t>Salbotics Solutions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3F7B5C-A071-4101-8CC9-41FD9A42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71475"/>
            <a:ext cx="156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9AA4A2"/>
                </a:solidFill>
                <a:latin typeface="Aptos"/>
                <a:ea typeface="Aptos"/>
                <a:cs typeface="Aptos"/>
              </a:defRPr>
            </a:pPr>
            <a:r>
              <a:t>Built for Real World, Not Textbook.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E289DA-05BF-4EAC-9334-61DA29E7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61975"/>
            <a:ext cx="14668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1B7A3"/>
          </a:solidFill>
        </p:spPr>
      </p:sp>
    </p:spTree>
    <p:extLst>
      <p:ext uri="{BB962C8B-B14F-4D97-AF65-F5344CB8AC3E}">
        <p14:creationId xmlns:p14="http://schemas.microsoft.com/office/powerpoint/2010/main" val="539198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35655D-C2C9-4C40-A1F5-5B8BBA65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6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E4141-1996-4109-87A7-0EBDB85B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B7A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6108AC-8A80-4098-BBB9-0666F04D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25717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FFF4F1"/>
          </a:solidFill>
          <a:ln xmlns:a="http://schemas.openxmlformats.org/drawingml/2006/main" w="14288">
            <a:solidFill>
              <a:srgbClr val="F267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D8AA1B-AB8C-4130-98D5-E99A12CB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"/>
            <a:ext cx="2228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26755"/>
                </a:solidFill>
                <a:latin typeface="Aptos"/>
                <a:ea typeface="Aptos"/>
                <a:cs typeface="Aptos"/>
              </a:defRPr>
            </a:pPr>
            <a:r>
              <a:t>THE REFRAME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F52FE1-0FB4-4C12-851B-7D363333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9334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t>Harness engineering turns vibe into repeatable workflow.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0361FE-F09E-489F-8B50-5A3BC03F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6858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2E3640"/>
                </a:solidFill>
                <a:latin typeface="Aptos"/>
                <a:ea typeface="Aptos"/>
                <a:cs typeface="Aptos"/>
              </a:defRPr>
            </a:pPr>
            <a:r>
              <a:t>Harness = reusable constraints around AI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E2932-5D3B-4451-A658-A9B5A50D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05125"/>
            <a:ext cx="1047750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B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846DE1-85C6-42D1-B2A5-6CEF3382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19450"/>
            <a:ext cx="16764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6755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3BEC82-4544-4A39-9B0B-AF981CA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09950"/>
            <a:ext cx="1447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Goal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B74EFF-3D8A-41B8-9CEC-74F51527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19450"/>
            <a:ext cx="16764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74A8D8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CED075-FB1D-4420-BC4C-FE1A58B1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409950"/>
            <a:ext cx="1447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6F00EF-D8C1-47E1-8643-EA52F550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19450"/>
            <a:ext cx="16764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C84B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DE7C58-A36A-4283-9576-1B72776C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409950"/>
            <a:ext cx="1447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Path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DB8BBF-6B9E-458D-91E5-65FDB668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19450"/>
            <a:ext cx="16764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51B7A3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2D5B7C-D9A6-4D12-8CCF-1763A3B7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09950"/>
            <a:ext cx="1447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Checkpoints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684467-22D3-4EC3-BAB3-B1DE8FC6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19450"/>
            <a:ext cx="16764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12B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1ED8DC-5A27-432E-8B8C-0513326D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09950"/>
            <a:ext cx="1447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Exit Criteria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024313-7C2C-4E47-AE8A-66A4002F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76800"/>
            <a:ext cx="92392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3300" b="1" i="0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t>Do not prompt harder. Harness better.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678F4F-9A32-47EA-A215-3E2D2887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DD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6F1FC0-FF5C-4FD9-8086-38819452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3714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0707C"/>
                </a:solidFill>
                <a:latin typeface="Aptos"/>
                <a:ea typeface="Aptos"/>
                <a:cs typeface="Aptos"/>
              </a:defRPr>
            </a:pPr>
            <a:r>
              <a:t>Implement Harness Engineering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74A578-5017-4DAC-8428-6C4FED39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3415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60707C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89A5BA-C5B4-4100-A615-DF2C2136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0707C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EE01FE-C5E2-48A9-AE3F-B06BDF4A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"/>
            <a:ext cx="3314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8F6"/>
          </a:solidFill>
          <a:ln xmlns:a="http://schemas.openxmlformats.org/drawingml/2006/main" w="7620">
            <a:solidFill>
              <a:srgbClr val="D8DE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3C481C-41C0-469A-802C-9E489721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1475"/>
            <a:ext cx="139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A9694"/>
                </a:solidFill>
                <a:latin typeface="Aptos"/>
                <a:ea typeface="Aptos"/>
                <a:cs typeface="Aptos"/>
              </a:defRPr>
            </a:pPr>
            <a:r>
              <a:t>Salbotics Solutions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21592B-FD3C-4874-87C3-E1E40D9E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71475"/>
            <a:ext cx="156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9AA4A2"/>
                </a:solidFill>
                <a:latin typeface="Aptos"/>
                <a:ea typeface="Aptos"/>
                <a:cs typeface="Aptos"/>
              </a:defRPr>
            </a:pPr>
            <a:r>
              <a:t>Built for Real World, Not Textbook.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FDCA30-4E30-4DC8-9247-C381FB43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61975"/>
            <a:ext cx="14668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1B7A3"/>
          </a:solidFill>
        </p:spPr>
      </p:sp>
    </p:spTree>
    <p:extLst>
      <p:ext uri="{BB962C8B-B14F-4D97-AF65-F5344CB8AC3E}">
        <p14:creationId xmlns:p14="http://schemas.microsoft.com/office/powerpoint/2010/main" val="2660969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BE369B-F2F8-4EFF-8141-69538416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6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2A511-F1B6-4647-8DDA-0EA6ADF1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B7A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FF461-EBCD-4A4B-B424-2FD77A5F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25717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FFF4F1"/>
          </a:solidFill>
          <a:ln xmlns:a="http://schemas.openxmlformats.org/drawingml/2006/main" w="14288">
            <a:solidFill>
              <a:srgbClr val="F267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9EE64-A3E9-4D84-A43A-EC526AEE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"/>
            <a:ext cx="2228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26755"/>
                </a:solidFill>
                <a:latin typeface="Aptos"/>
                <a:ea typeface="Aptos"/>
                <a:cs typeface="Aptos"/>
              </a:defRPr>
            </a:pPr>
            <a:r>
              <a:t>BEFORE / AFTER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038E14-CBFB-4609-B1AD-6765FD6B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9334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t>Same intention. Different operating system.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3426B-AE4F-426D-98E9-B6121EAD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4876800" cy="27622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4F1"/>
          </a:solidFill>
          <a:ln xmlns:a="http://schemas.openxmlformats.org/drawingml/2006/main" w="11430">
            <a:solidFill>
              <a:srgbClr val="F267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BF8FDD-6132-40C2-9EEC-63FD6DBA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52700"/>
            <a:ext cx="266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F26755"/>
                </a:solidFill>
                <a:latin typeface="Aptos"/>
                <a:ea typeface="Aptos"/>
                <a:cs typeface="Aptos"/>
              </a:defRPr>
            </a:pPr>
            <a:r>
              <a:t>Naked prompt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12D7AE-E611-4D51-A584-1BBE4A33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86100"/>
            <a:ext cx="40195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Build me an app for tracking patients / chemicals / animation assets.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608DD6-53C2-4C82-B839-6BF8222F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24350"/>
            <a:ext cx="4000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2E3640"/>
                </a:solidFill>
                <a:latin typeface="Aptos"/>
                <a:ea typeface="Aptos"/>
                <a:cs typeface="Aptos"/>
              </a:defRPr>
            </a:pPr>
            <a:r>
              <a:t>Likely result: goal drift, tool guessing, too many files, unclear finish line.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6E49F5-AA4C-4ABD-875B-C53980A6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86000"/>
            <a:ext cx="4876800" cy="27622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0FBF8"/>
          </a:solidFill>
          <a:ln xmlns:a="http://schemas.openxmlformats.org/drawingml/2006/main" w="11430">
            <a:solidFill>
              <a:srgbClr val="51B7A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AE3047-1C8D-467C-9615-97313195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5270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51B7A3"/>
                </a:solidFill>
                <a:latin typeface="Aptos"/>
                <a:ea typeface="Aptos"/>
                <a:cs typeface="Aptos"/>
              </a:defRPr>
            </a:pPr>
            <a:r>
              <a:t>Harnessed prompt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578C7F-43D8-497D-9950-23BA6ED2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86100"/>
            <a:ext cx="40386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Act as my build guide. First ask 3 scoping questions. Then propose a 3-step path. After each step, summarize changes, remaining work, and risk.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E4D752-2A51-48DE-9A1E-4BF19A9C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19600"/>
            <a:ext cx="4000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2E3640"/>
                </a:solidFill>
                <a:latin typeface="Aptos"/>
                <a:ea typeface="Aptos"/>
                <a:cs typeface="Aptos"/>
              </a:defRPr>
            </a:pPr>
            <a:r>
              <a:t>Likely result: shared plan, smaller steps, visible progress, clear done point.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6EBB63-EFED-4D04-AFDE-235BC452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DD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961261-F8A5-4380-BCA5-300993F6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3714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0707C"/>
                </a:solidFill>
                <a:latin typeface="Aptos"/>
                <a:ea typeface="Aptos"/>
                <a:cs typeface="Aptos"/>
              </a:defRPr>
            </a:pPr>
            <a:r>
              <a:t>Implement Harness Engineering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8D2FEE-7952-4011-BE5D-53AC82F5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3415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60707C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090110-E287-42EE-9315-5D0F7306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0707C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E1378C-FED4-4719-93BB-A996A8E8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"/>
            <a:ext cx="3314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8F6"/>
          </a:solidFill>
          <a:ln xmlns:a="http://schemas.openxmlformats.org/drawingml/2006/main" w="7620">
            <a:solidFill>
              <a:srgbClr val="D8DE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91660C-21E7-414F-975C-E4C3793D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1475"/>
            <a:ext cx="139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A9694"/>
                </a:solidFill>
                <a:latin typeface="Aptos"/>
                <a:ea typeface="Aptos"/>
                <a:cs typeface="Aptos"/>
              </a:defRPr>
            </a:pPr>
            <a:r>
              <a:t>Salbotics Solutions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427E4D-F32B-4F40-BC26-0922BF93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71475"/>
            <a:ext cx="156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9AA4A2"/>
                </a:solidFill>
                <a:latin typeface="Aptos"/>
                <a:ea typeface="Aptos"/>
                <a:cs typeface="Aptos"/>
              </a:defRPr>
            </a:pPr>
            <a:r>
              <a:t>Built for Real World, Not Textbook.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5C8200-DF7F-4312-BEC9-659581C6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61975"/>
            <a:ext cx="14668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1B7A3"/>
          </a:solidFill>
        </p:spPr>
      </p:sp>
    </p:spTree>
    <p:extLst>
      <p:ext uri="{BB962C8B-B14F-4D97-AF65-F5344CB8AC3E}">
        <p14:creationId xmlns:p14="http://schemas.microsoft.com/office/powerpoint/2010/main" val="8357451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2C84BB-9038-4C57-BEC2-3A8A5FEE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6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F946C0-C77F-47A1-977F-98E0B3C8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B7A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CBDBC-41A1-4DEB-A790-83FB4B2C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25717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FFF4F1"/>
          </a:solidFill>
          <a:ln xmlns:a="http://schemas.openxmlformats.org/drawingml/2006/main" w="14288">
            <a:solidFill>
              <a:srgbClr val="F267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CED89B-5211-4B48-A282-6ADB8511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"/>
            <a:ext cx="2228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26755"/>
                </a:solidFill>
                <a:latin typeface="Aptos"/>
                <a:ea typeface="Aptos"/>
                <a:cs typeface="Aptos"/>
              </a:defRPr>
            </a:pPr>
            <a:r>
              <a:t>COPY THIS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21A45E-573A-444A-BE1D-C64858DD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9334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t>A harness prompt is a small reusable contract.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468238-0E4A-4794-BF95-071EB06C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18097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26755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742236-DDFB-48F7-8777-0C715ED8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28850"/>
            <a:ext cx="1466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GOAL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F77A9A-D8D2-4B01-A313-8450B06A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76450"/>
            <a:ext cx="85153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FC3EB7-8141-47C0-8A0D-241D93E5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19325"/>
            <a:ext cx="792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2E3640"/>
                </a:solidFill>
                <a:latin typeface="Aptos"/>
                <a:ea typeface="Aptos"/>
                <a:cs typeface="Aptos"/>
              </a:defRPr>
            </a:pPr>
            <a:r>
              <a:t>Build [specific outcome] for [specific user] by [time / quality bar].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DEE344-BAB4-4456-ADDF-428BB768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18097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74A8D8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97F8D0-B617-42BC-8B0A-332DD162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1466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CEA0B6-3222-431A-94A3-0C401DE1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724150"/>
            <a:ext cx="85153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6971A5-0BD5-4B50-B612-31F4954F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67025"/>
            <a:ext cx="792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2E3640"/>
                </a:solidFill>
                <a:latin typeface="Aptos"/>
                <a:ea typeface="Aptos"/>
                <a:cs typeface="Aptos"/>
              </a:defRPr>
            </a:pPr>
            <a:r>
              <a:t>Use this domain background, terms, examples, and files: [paste/link].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E4EBE7-F653-4362-9510-4DF6A796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18097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2C84B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0E7218-0D87-48AD-92D0-03CFEB2D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1466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CONSTRAINTS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6A368A-512E-49EB-AF40-41F21BC2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371850"/>
            <a:ext cx="85153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4DF738-B2B5-447C-84CE-DF87633E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14725"/>
            <a:ext cx="792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2E3640"/>
                </a:solidFill>
                <a:latin typeface="Aptos"/>
                <a:ea typeface="Aptos"/>
                <a:cs typeface="Aptos"/>
              </a:defRPr>
            </a:pPr>
            <a:r>
              <a:t>Stay within [tool, budget, safety, style, compliance, time].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F1B4B2-1613-488B-B01F-94A8C61D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18097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51B7A3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0CD7B4-BDC8-445D-AA9C-69054768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1466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ASK FIRST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2E8E92-D7C2-4498-A6C2-0381F81A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019550"/>
            <a:ext cx="85153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36EE2B-D841-4CA0-92AD-B2822DE0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62425"/>
            <a:ext cx="792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2E3640"/>
                </a:solidFill>
                <a:latin typeface="Aptos"/>
                <a:ea typeface="Aptos"/>
                <a:cs typeface="Aptos"/>
              </a:defRPr>
            </a:pPr>
            <a:r>
              <a:t>Before acting, ask only questions that change the plan.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BA59E1-D3AA-4F29-A236-63D5ACF0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18097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7212B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79D2B8-25F5-4A97-B6C3-F4C5E04C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9650"/>
            <a:ext cx="1466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CHECKPOINTS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442BD9-95EF-453D-B01F-0361C861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667250"/>
            <a:ext cx="85153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EEF3A9-A74F-4F02-A6AA-438B55AC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810125"/>
            <a:ext cx="792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2E3640"/>
                </a:solidFill>
                <a:latin typeface="Aptos"/>
                <a:ea typeface="Aptos"/>
                <a:cs typeface="Aptos"/>
              </a:defRPr>
            </a:pPr>
            <a:r>
              <a:t>After each major step: what changed, what remains, what risk.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12E170-8631-4541-B52E-E5833B0F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14950"/>
            <a:ext cx="18097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26755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BDB7D2-A611-4F91-AE65-41E2A514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67350"/>
            <a:ext cx="1466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DONE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586BA4-2A76-45F7-A008-164453C2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314950"/>
            <a:ext cx="85153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CDDF60-92A7-4473-B6C4-9F299D02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457825"/>
            <a:ext cx="792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2E3640"/>
                </a:solidFill>
                <a:latin typeface="Aptos"/>
                <a:ea typeface="Aptos"/>
                <a:cs typeface="Aptos"/>
              </a:defRPr>
            </a:pPr>
            <a:r>
              <a:t>Stop when [acceptance criteria] pass. Do not expand scope.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04EE8A-0E52-4640-B26B-4C633FA0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DD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CFFB66-D4EB-4FE7-B3BB-EED2765A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3714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0707C"/>
                </a:solidFill>
                <a:latin typeface="Aptos"/>
                <a:ea typeface="Aptos"/>
                <a:cs typeface="Aptos"/>
              </a:defRPr>
            </a:pPr>
            <a:r>
              <a:t>Implement Harness Engineering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76AC71-B72F-40E3-8CF4-9E444C0E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3415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60707C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1E6130-948C-44FD-BA17-FFB49F17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0707C"/>
                </a:solidFill>
                <a:latin typeface="Aptos"/>
                <a:ea typeface="Aptos"/>
                <a:cs typeface="Aptos"/>
              </a:defRPr>
            </a:pPr>
            <a:r>
              <a:t>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9301FA-3BD8-45BA-832F-98612046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"/>
            <a:ext cx="3314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8F6"/>
          </a:solidFill>
          <a:ln xmlns:a="http://schemas.openxmlformats.org/drawingml/2006/main" w="7620">
            <a:solidFill>
              <a:srgbClr val="D8DED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27A3C3-F761-4B7A-AA97-16D14C41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1475"/>
            <a:ext cx="139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A9694"/>
                </a:solidFill>
                <a:latin typeface="Aptos"/>
                <a:ea typeface="Aptos"/>
                <a:cs typeface="Aptos"/>
              </a:defRPr>
            </a:pPr>
            <a:r>
              <a:t>Salbotics Solutions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3E8F60-B3B9-4E6C-96DE-476F7938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71475"/>
            <a:ext cx="156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9AA4A2"/>
                </a:solidFill>
                <a:latin typeface="Aptos"/>
                <a:ea typeface="Aptos"/>
                <a:cs typeface="Aptos"/>
              </a:defRPr>
            </a:pPr>
            <a:r>
              <a:t>Built for Real World, Not Textbook.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3688C4-A201-405E-9823-A0DE4BF3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61975"/>
            <a:ext cx="14668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1B7A3"/>
          </a:solidFill>
        </p:spPr>
      </p:sp>
    </p:spTree>
    <p:extLst>
      <p:ext uri="{BB962C8B-B14F-4D97-AF65-F5344CB8AC3E}">
        <p14:creationId xmlns:p14="http://schemas.microsoft.com/office/powerpoint/2010/main" val="17968189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A9C1EC-3DF6-4AAF-92D0-AAEB96BD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6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1CF292-1194-4B26-BE51-2F86753B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B7A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E9208C-EFB6-4D6B-9890-AEFC0BD5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25717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FFF4F1"/>
          </a:solidFill>
          <a:ln xmlns:a="http://schemas.openxmlformats.org/drawingml/2006/main" w="14288">
            <a:solidFill>
              <a:srgbClr val="F267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7AF5E8-D815-45A9-9B0A-52C6EA54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"/>
            <a:ext cx="2228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26755"/>
                </a:solidFill>
                <a:latin typeface="Aptos"/>
                <a:ea typeface="Aptos"/>
                <a:cs typeface="Aptos"/>
              </a:defRPr>
            </a:pPr>
            <a:r>
              <a:t>CONTEXT IS THE NEW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4952C-0532-4C11-BB9D-E4FECEC9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9334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t>The library is not just prompts. It is the operating loop.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419810-BB9C-4854-AC46-23A46F62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B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BFE6C3-794F-4537-9FC2-6C95A2A7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19400"/>
            <a:ext cx="18288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267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AE035C-8AC0-4BBF-A12E-D9271E1F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90850"/>
            <a:ext cx="1562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F26755"/>
                </a:solidFill>
                <a:latin typeface="Aptos"/>
                <a:ea typeface="Aptos"/>
                <a:cs typeface="Aptos"/>
              </a:defRPr>
            </a:pPr>
            <a:r>
              <a:t>Generate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9B518B-4EAB-42CB-9E93-D91A7D4C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29000"/>
            <a:ext cx="1485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2E3640"/>
                </a:solidFill>
                <a:latin typeface="Aptos"/>
                <a:ea typeface="Aptos"/>
                <a:cs typeface="Aptos"/>
              </a:defRPr>
            </a:pPr>
            <a:r>
              <a:t>Capture what worked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0EC62E-8E1A-423A-A7E0-58E512E4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19400"/>
            <a:ext cx="18288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2C8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2EA782-80D2-4D2B-BE8F-243B76C5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90850"/>
            <a:ext cx="1562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F2C84B"/>
                </a:solidFill>
                <a:latin typeface="Aptos"/>
                <a:ea typeface="Aptos"/>
                <a:cs typeface="Aptos"/>
              </a:defRPr>
            </a:pPr>
            <a:r>
              <a:t>Evaluate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E1E39B-1D81-4174-8F1B-ECADF109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429000"/>
            <a:ext cx="1485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2E3640"/>
                </a:solidFill>
                <a:latin typeface="Aptos"/>
                <a:ea typeface="Aptos"/>
                <a:cs typeface="Aptos"/>
              </a:defRPr>
            </a:pPr>
            <a:r>
              <a:t>Check output quality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797297-34E0-4E47-9DC0-C5FD4538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19400"/>
            <a:ext cx="18288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4A8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5E6A1A-88C4-4437-BFE8-F148B5FE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90850"/>
            <a:ext cx="1562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74A8D8"/>
                </a:solidFill>
                <a:latin typeface="Aptos"/>
                <a:ea typeface="Aptos"/>
                <a:cs typeface="Aptos"/>
              </a:defRPr>
            </a:pPr>
            <a:r>
              <a:t>Distribute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D794ED-CFF1-4A49-868B-07F50ED1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29000"/>
            <a:ext cx="1485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2E3640"/>
                </a:solidFill>
                <a:latin typeface="Aptos"/>
                <a:ea typeface="Aptos"/>
                <a:cs typeface="Aptos"/>
              </a:defRPr>
            </a:pPr>
            <a:r>
              <a:t>Share as markdown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87175C-8896-42E8-BAC8-27EEC035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19400"/>
            <a:ext cx="18288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1B7A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ED6D59-BADF-4258-A316-9FBBEDC7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90850"/>
            <a:ext cx="1562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51B7A3"/>
                </a:solidFill>
                <a:latin typeface="Aptos"/>
                <a:ea typeface="Aptos"/>
                <a:cs typeface="Aptos"/>
              </a:defRPr>
            </a:pPr>
            <a:r>
              <a:t>Observe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69B25A-C5D6-4B3E-BF96-DB51D433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29000"/>
            <a:ext cx="1485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2E3640"/>
                </a:solidFill>
                <a:latin typeface="Aptos"/>
                <a:ea typeface="Aptos"/>
                <a:cs typeface="Aptos"/>
              </a:defRPr>
            </a:pPr>
            <a:r>
              <a:t>Improve from use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D0FB5E-F851-475E-AE74-212B8386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533900"/>
            <a:ext cx="5238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7F5"/>
          </a:solidFill>
          <a:ln xmlns:a="http://schemas.openxmlformats.org/drawingml/2006/main" w="9525">
            <a:solidFill>
              <a:srgbClr val="51B7A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AAE175-F7B9-4469-8206-352789AB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629150"/>
            <a:ext cx="47053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2E3640"/>
                </a:solidFill>
                <a:latin typeface="Aptos"/>
                <a:ea typeface="Aptos"/>
                <a:cs typeface="Aptos"/>
              </a:defRPr>
            </a:pPr>
            <a:r>
              <a:t>Context becomes an asset when teams can reuse, review, and improve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FD2395-E9FA-48D0-A563-0B2D03BB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DD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2F6338-D9D5-4D66-9061-EF71C162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3714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0707C"/>
                </a:solidFill>
                <a:latin typeface="Aptos"/>
                <a:ea typeface="Aptos"/>
                <a:cs typeface="Aptos"/>
              </a:defRPr>
            </a:pPr>
            <a:r>
              <a:t>Implement Harness Engineering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B470C2-9F4B-490A-9AE7-8C9873E2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3415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60707C"/>
                </a:solidFill>
                <a:latin typeface="Aptos"/>
                <a:ea typeface="Aptos"/>
                <a:cs typeface="Aptos"/>
              </a:defRPr>
            </a:pPr>
            <a:r>
              <a:t>Refs: Patrick Debois, AI Engineer Europe / Tessl context flywheel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253CF1-95FC-4D84-81BA-A9322DEC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0707C"/>
                </a:solidFill>
                <a:latin typeface="Aptos"/>
                <a:ea typeface="Aptos"/>
                <a:cs typeface="Aptos"/>
              </a:defRPr>
            </a:pPr>
            <a: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81BEC6-5CFA-4AE7-8439-8754A3A8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"/>
            <a:ext cx="3314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8F6"/>
          </a:solidFill>
          <a:ln xmlns:a="http://schemas.openxmlformats.org/drawingml/2006/main" w="7620">
            <a:solidFill>
              <a:srgbClr val="D8DE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E6B1E6-BE7C-4FD0-BCE6-F21F36C3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1475"/>
            <a:ext cx="139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A9694"/>
                </a:solidFill>
                <a:latin typeface="Aptos"/>
                <a:ea typeface="Aptos"/>
                <a:cs typeface="Aptos"/>
              </a:defRPr>
            </a:pPr>
            <a:r>
              <a:t>Salbotics Solutions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A0A05E-08CC-4A93-9CBF-0C998C3A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71475"/>
            <a:ext cx="156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9AA4A2"/>
                </a:solidFill>
                <a:latin typeface="Aptos"/>
                <a:ea typeface="Aptos"/>
                <a:cs typeface="Aptos"/>
              </a:defRPr>
            </a:pPr>
            <a:r>
              <a:t>Built for Real World, Not Textbook.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640BD0-10AC-47EA-A0D1-C3FC2F69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61975"/>
            <a:ext cx="14668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1B7A3"/>
          </a:solidFill>
        </p:spPr>
      </p:sp>
    </p:spTree>
    <p:extLst>
      <p:ext uri="{BB962C8B-B14F-4D97-AF65-F5344CB8AC3E}">
        <p14:creationId xmlns:p14="http://schemas.microsoft.com/office/powerpoint/2010/main" val="1099321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C51ED1-B258-4C37-934F-32C55C62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6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154C3E-74A8-420E-AA64-FF7CF2EB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B7A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DC1CE7-66E3-4417-A61C-6E46BA7F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25717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FFF4F1"/>
          </a:solidFill>
          <a:ln xmlns:a="http://schemas.openxmlformats.org/drawingml/2006/main" w="14288">
            <a:solidFill>
              <a:srgbClr val="F267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45A6D-F4A1-4A8C-8778-7F7AB1DB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"/>
            <a:ext cx="2228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26755"/>
                </a:solidFill>
                <a:latin typeface="Aptos"/>
                <a:ea typeface="Aptos"/>
                <a:cs typeface="Aptos"/>
              </a:defRPr>
            </a:pPr>
            <a:r>
              <a:t>OPEN STANDARD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74FB8-55E0-4512-834D-62255C50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9334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t>A context pack can be plain markdown.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213253-585B-45CD-9FE2-707E8191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762500" cy="3181350"/>
          </a:xfrm>
          <a:prstGeom xmlns:a="http://schemas.openxmlformats.org/drawingml/2006/main" prst="roundRect">
            <a:avLst>
              <a:gd name="adj" fmla="val 2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B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527FCF-F864-4488-95CC-73D4B2CB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14600"/>
            <a:ext cx="3429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context-pack/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6EF0EB-D09C-4001-BA0C-9C33EC64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28950"/>
            <a:ext cx="1123950" cy="2667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7F8F6"/>
          </a:solidFill>
          <a:ln xmlns:a="http://schemas.openxmlformats.org/drawingml/2006/main" w="9525">
            <a:solidFill>
              <a:srgbClr val="D5DB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4D79AF-109E-40A4-B95E-C72C2EA7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26755"/>
                </a:solidFill>
                <a:latin typeface="Aptos"/>
                <a:ea typeface="Aptos"/>
                <a:cs typeface="Aptos"/>
              </a:defRPr>
            </a:pPr>
            <a:r>
              <a:t>README.md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80FFD1-BC05-4E5E-930F-CD7EB1A7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670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E3640"/>
                </a:solidFill>
                <a:latin typeface="Aptos"/>
                <a:ea typeface="Aptos"/>
                <a:cs typeface="Aptos"/>
              </a:defRPr>
            </a:pPr>
            <a:r>
              <a:t>what this pack is for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30AB1B-E92A-4C41-A095-B95B3FB5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90900"/>
            <a:ext cx="1123950" cy="2667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7F8F6"/>
          </a:solidFill>
          <a:ln xmlns:a="http://schemas.openxmlformats.org/drawingml/2006/main" w="9525">
            <a:solidFill>
              <a:srgbClr val="D5DB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9DBE9F-7F20-49CB-87A0-93A38355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480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74A8D8"/>
                </a:solidFill>
                <a:latin typeface="Aptos"/>
                <a:ea typeface="Aptos"/>
                <a:cs typeface="Aptos"/>
              </a:defRPr>
            </a:pPr>
            <a:r>
              <a:t>DOMAIN.md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9DB997-0EC8-4C4D-97E7-E516ED88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2900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E3640"/>
                </a:solidFill>
                <a:latin typeface="Aptos"/>
                <a:ea typeface="Aptos"/>
                <a:cs typeface="Aptos"/>
              </a:defRPr>
            </a:pPr>
            <a:r>
              <a:t>terms, rules, assumptions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7FFA13-03E7-4E93-9FA2-9A8554FB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52850"/>
            <a:ext cx="1123950" cy="2667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7F8F6"/>
          </a:solidFill>
          <a:ln xmlns:a="http://schemas.openxmlformats.org/drawingml/2006/main" w="9525">
            <a:solidFill>
              <a:srgbClr val="D5DB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EE0FB6-558C-4CE9-9B33-3DEC4F3C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100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2C84B"/>
                </a:solidFill>
                <a:latin typeface="Aptos"/>
                <a:ea typeface="Aptos"/>
                <a:cs typeface="Aptos"/>
              </a:defRPr>
            </a:pPr>
            <a:r>
              <a:t>PROMPTS.md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001112-7030-4B66-AC7F-05A27E80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909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E3640"/>
                </a:solidFill>
                <a:latin typeface="Aptos"/>
                <a:ea typeface="Aptos"/>
                <a:cs typeface="Aptos"/>
              </a:defRPr>
            </a:pPr>
            <a:r>
              <a:t>reusable prompts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755007-A205-409A-8D36-8C78BF12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14800"/>
            <a:ext cx="1123950" cy="2667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7F8F6"/>
          </a:solidFill>
          <a:ln xmlns:a="http://schemas.openxmlformats.org/drawingml/2006/main" w="9525">
            <a:solidFill>
              <a:srgbClr val="D5DB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4CD128-0A1C-40C6-9629-835996CC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1B7A3"/>
                </a:solidFill>
                <a:latin typeface="Aptos"/>
                <a:ea typeface="Aptos"/>
                <a:cs typeface="Aptos"/>
              </a:defRPr>
            </a:pPr>
            <a:r>
              <a:t>EXAMPLES.md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F260CF-B220-404B-B3CD-BA39FC19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5290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E3640"/>
                </a:solidFill>
                <a:latin typeface="Aptos"/>
                <a:ea typeface="Aptos"/>
                <a:cs typeface="Aptos"/>
              </a:defRPr>
            </a:pPr>
            <a:r>
              <a:t>good and bad outputs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3F3A9E-1D40-4C40-BB4E-5C1D6984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76750"/>
            <a:ext cx="1123950" cy="2667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7F8F6"/>
          </a:solidFill>
          <a:ln xmlns:a="http://schemas.openxmlformats.org/drawingml/2006/main" w="9525">
            <a:solidFill>
              <a:srgbClr val="D5DB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7F2B4D-0996-4AD2-B9AC-600B1C4C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3390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CHECKPOINTS.md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ECCBED-47E3-4C7F-A0BE-CE2A5C76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148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E3640"/>
                </a:solidFill>
                <a:latin typeface="Aptos"/>
                <a:ea typeface="Aptos"/>
                <a:cs typeface="Aptos"/>
              </a:defRPr>
            </a:pPr>
            <a:r>
              <a:t>review gates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3AA262-C0A3-4F53-8AD2-5DD522A2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38700"/>
            <a:ext cx="1123950" cy="2667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7F8F6"/>
          </a:solidFill>
          <a:ln xmlns:a="http://schemas.openxmlformats.org/drawingml/2006/main" w="9525">
            <a:solidFill>
              <a:srgbClr val="D5DB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C076AE-13C9-410A-97EB-38AD541F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958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2E3640"/>
                </a:solidFill>
                <a:latin typeface="Aptos"/>
                <a:ea typeface="Aptos"/>
                <a:cs typeface="Aptos"/>
              </a:defRPr>
            </a:pPr>
            <a:r>
              <a:t>GEMINI.md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1BE906-44B1-47E3-9C69-F33EBC56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7680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E3640"/>
                </a:solidFill>
                <a:latin typeface="Aptos"/>
                <a:ea typeface="Aptos"/>
                <a:cs typeface="Aptos"/>
              </a:defRPr>
            </a:pPr>
            <a:r>
              <a:t>language handoff notes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541ED8-56B7-48A9-9471-4CB9A749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4000500" cy="20955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BF8"/>
          </a:solidFill>
          <a:ln xmlns:a="http://schemas.openxmlformats.org/drawingml/2006/main" w="11430">
            <a:solidFill>
              <a:srgbClr val="51B7A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370993-5793-4910-8CF4-AF147BFA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57500"/>
            <a:ext cx="3238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51B7A3"/>
                </a:solidFill>
                <a:latin typeface="Aptos"/>
                <a:ea typeface="Aptos"/>
                <a:cs typeface="Aptos"/>
              </a:defRPr>
            </a:pPr>
            <a:r>
              <a:t>Portable across tools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1FFE1E-0816-4D88-9F6F-B5291BDD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67100"/>
            <a:ext cx="3238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0" i="0">
                <a:solidFill>
                  <a:srgbClr val="2E3640"/>
                </a:solidFill>
                <a:latin typeface="Aptos"/>
                <a:ea typeface="Aptos"/>
                <a:cs typeface="Aptos"/>
              </a:defRPr>
            </a:pPr>
            <a:r>
              <a:t>No lock-in required.</a:t>
            </a:r>
          </a:p>
          <a:p xmlns:a="http://schemas.openxmlformats.org/drawingml/2006/main">
            <a:pPr algn="ctr">
              <a:buNone/>
              <a:defRPr sz="1800" b="0" i="0">
                <a:solidFill>
                  <a:srgbClr val="2E3640"/>
                </a:solidFill>
                <a:latin typeface="Aptos"/>
                <a:ea typeface="Aptos"/>
                <a:cs typeface="Aptos"/>
              </a:defRPr>
            </a:pPr>
            <a:r>
              <a:t>Start with files you can read, edit, version, and share.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3A148E-2CFE-41EE-BBE2-74E791AE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DD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AA0B1A-7BB4-4AA3-9F67-22A66AF5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3714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0707C"/>
                </a:solidFill>
                <a:latin typeface="Aptos"/>
                <a:ea typeface="Aptos"/>
                <a:cs typeface="Aptos"/>
              </a:defRPr>
            </a:pPr>
            <a:r>
              <a:t>Implement Harness Engineering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510C4E-BC7C-4487-A0A1-DCFB05B6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3415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60707C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4D3E66-CBB6-4040-83FB-E3134FC5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0707C"/>
                </a:solidFill>
                <a:latin typeface="Aptos"/>
                <a:ea typeface="Aptos"/>
                <a:cs typeface="Aptos"/>
              </a:defRPr>
            </a:pPr>
            <a:r>
              <a:t>07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95856E-AC86-4819-8EAD-FDDFAA3F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"/>
            <a:ext cx="3314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8F6"/>
          </a:solidFill>
          <a:ln xmlns:a="http://schemas.openxmlformats.org/drawingml/2006/main" w="7620">
            <a:solidFill>
              <a:srgbClr val="D8DED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83CE5E-80CA-4B2B-9427-5A66A0C2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1475"/>
            <a:ext cx="139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A9694"/>
                </a:solidFill>
                <a:latin typeface="Aptos"/>
                <a:ea typeface="Aptos"/>
                <a:cs typeface="Aptos"/>
              </a:defRPr>
            </a:pPr>
            <a:r>
              <a:t>Salbotics Solutions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320289-74C5-498F-A45A-6803D976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71475"/>
            <a:ext cx="156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9AA4A2"/>
                </a:solidFill>
                <a:latin typeface="Aptos"/>
                <a:ea typeface="Aptos"/>
                <a:cs typeface="Aptos"/>
              </a:defRPr>
            </a:pPr>
            <a:r>
              <a:t>Built for Real World, Not Textbook.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16DAA9-C529-4482-B1E5-5F1DBA60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61975"/>
            <a:ext cx="14668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1B7A3"/>
          </a:solidFill>
        </p:spPr>
      </p:sp>
    </p:spTree>
    <p:extLst>
      <p:ext uri="{BB962C8B-B14F-4D97-AF65-F5344CB8AC3E}">
        <p14:creationId xmlns:p14="http://schemas.microsoft.com/office/powerpoint/2010/main" val="137023532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AE59A9-229B-4B34-9D09-24955A47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6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2019EF-C4E9-4D44-82C1-CE63E410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B7A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14BDA-7A93-4BCF-8AEC-B87A7B31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25717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FFF4F1"/>
          </a:solidFill>
          <a:ln xmlns:a="http://schemas.openxmlformats.org/drawingml/2006/main" w="14288">
            <a:solidFill>
              <a:srgbClr val="F267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F2195-CF9E-4189-A3EA-6F953EE7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"/>
            <a:ext cx="2228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26755"/>
                </a:solidFill>
                <a:latin typeface="Aptos"/>
                <a:ea typeface="Aptos"/>
                <a:cs typeface="Aptos"/>
              </a:defRPr>
            </a:pPr>
            <a:r>
              <a:t>LIBRARY LADDER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170417-33E3-402F-8B37-6173374D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9334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t>Grow the library only when reuse proves it deserves to exist.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9037C-AD9D-4A5C-87E7-8C4320D5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9601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DD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EA2CB-EED1-4A93-B7C6-57D8DB39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755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992B34-7D5E-4171-A8E1-9F325875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24250"/>
            <a:ext cx="590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D59FCF-105C-4CCD-8DFB-D3084428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1619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Personal 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4279AA-D41E-4DD8-993D-E8C5D946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33850"/>
            <a:ext cx="1619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2E3640"/>
                </a:solidFill>
                <a:latin typeface="Aptos"/>
                <a:ea typeface="Aptos"/>
                <a:cs typeface="Aptos"/>
              </a:defRPr>
            </a:pPr>
            <a:r>
              <a:t>Used twice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81361D-9781-4F67-8291-4F6550FF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2900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84B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2F878D-3A69-4460-8713-E4EF6FD6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24250"/>
            <a:ext cx="590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694230-94B9-401B-A851-DF500A5A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24150"/>
            <a:ext cx="1619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Checklist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754220-177F-4997-A374-A8542DD7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133850"/>
            <a:ext cx="1619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2E3640"/>
                </a:solidFill>
                <a:latin typeface="Aptos"/>
                <a:ea typeface="Aptos"/>
                <a:cs typeface="Aptos"/>
              </a:defRPr>
            </a:pPr>
            <a:r>
              <a:t>Same steps repeat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2814C9-3550-4CBD-803A-4D3E465A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42900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4A8D8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2B3035-2868-4A46-9A29-AD87829F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524250"/>
            <a:ext cx="590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55CF95-0436-4156-A9AF-134754DB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24150"/>
            <a:ext cx="1619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Context pack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70C591-F336-45D9-AD37-39832987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133850"/>
            <a:ext cx="1619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2E3640"/>
                </a:solidFill>
                <a:latin typeface="Aptos"/>
                <a:ea typeface="Aptos"/>
                <a:cs typeface="Aptos"/>
              </a:defRPr>
            </a:pPr>
            <a:r>
              <a:t>Domain rules added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C9164A-7F22-4CB5-9B28-A5F579EA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2900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1B7A3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56DD4C-39E4-4A65-BADF-257DF2E6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24250"/>
            <a:ext cx="590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8FF309-F911-4EFE-AC0D-86E4B051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24150"/>
            <a:ext cx="1619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Shared library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56244C-88E4-4D15-B9DB-568A632D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33850"/>
            <a:ext cx="1619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2E3640"/>
                </a:solidFill>
                <a:latin typeface="Aptos"/>
                <a:ea typeface="Aptos"/>
                <a:cs typeface="Aptos"/>
              </a:defRPr>
            </a:pPr>
            <a:r>
              <a:t>Team can reuse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C5A124-084B-4DEA-8283-7BF9233F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42900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12B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2D5425-4E66-453B-81A9-22130C2F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524250"/>
            <a:ext cx="590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F96304-89B7-4C8E-94B9-15C11357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24150"/>
            <a:ext cx="1619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Observed improvement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EC1CB3-5B95-4A6E-A089-A7AC56AB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133850"/>
            <a:ext cx="1619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2E3640"/>
                </a:solidFill>
                <a:latin typeface="Aptos"/>
                <a:ea typeface="Aptos"/>
                <a:cs typeface="Aptos"/>
              </a:defRPr>
            </a:pPr>
            <a:r>
              <a:t>Better outputs logged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1EC030-19B3-47CA-AC19-53315E2A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19700"/>
            <a:ext cx="7429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8DF"/>
          </a:solidFill>
          <a:ln xmlns:a="http://schemas.openxmlformats.org/drawingml/2006/main" w="9525">
            <a:solidFill>
              <a:srgbClr val="F2C84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C87534-A03F-4CD2-A271-67ECD13F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53050"/>
            <a:ext cx="685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Do not start with a giant library. Start with one workflow you repeat.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E86668-5F71-4D56-AA4E-E7E6D2B0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DD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6DDF37-4D05-4B4E-8A5F-52FDD9AB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3714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0707C"/>
                </a:solidFill>
                <a:latin typeface="Aptos"/>
                <a:ea typeface="Aptos"/>
                <a:cs typeface="Aptos"/>
              </a:defRPr>
            </a:pPr>
            <a:r>
              <a:t>Implement Harness Engineering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3062E0-2F5D-4F57-B16F-D681F84C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3415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60707C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6F1B91-4370-4EF5-B4D1-7902FAA5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0707C"/>
                </a:solidFill>
                <a:latin typeface="Aptos"/>
                <a:ea typeface="Aptos"/>
                <a:cs typeface="Aptos"/>
              </a:defRPr>
            </a:pPr>
            <a:r>
              <a:t>08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6B3E9C-9D41-4414-9A59-F0C820D3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"/>
            <a:ext cx="3314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8F6"/>
          </a:solidFill>
          <a:ln xmlns:a="http://schemas.openxmlformats.org/drawingml/2006/main" w="7620">
            <a:solidFill>
              <a:srgbClr val="D8DED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42EF8B-162D-43EB-9695-5F1F2031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1475"/>
            <a:ext cx="139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A9694"/>
                </a:solidFill>
                <a:latin typeface="Aptos"/>
                <a:ea typeface="Aptos"/>
                <a:cs typeface="Aptos"/>
              </a:defRPr>
            </a:pPr>
            <a:r>
              <a:t>Salbotics Solutions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69350B-21A1-4EBF-BFC1-593C9534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71475"/>
            <a:ext cx="156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9AA4A2"/>
                </a:solidFill>
                <a:latin typeface="Aptos"/>
                <a:ea typeface="Aptos"/>
                <a:cs typeface="Aptos"/>
              </a:defRPr>
            </a:pPr>
            <a:r>
              <a:t>Built for Real World, Not Textbook.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C2FF54-8356-4510-ADB9-7A13A089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61975"/>
            <a:ext cx="14668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1B7A3"/>
          </a:solidFill>
        </p:spPr>
      </p:sp>
    </p:spTree>
    <p:extLst>
      <p:ext uri="{BB962C8B-B14F-4D97-AF65-F5344CB8AC3E}">
        <p14:creationId xmlns:p14="http://schemas.microsoft.com/office/powerpoint/2010/main" val="155796226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DC5608-5621-45CA-9446-CAA085CE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6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64573-2588-4FAE-B871-C90A9A5D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B7A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0F74D-5BF1-4873-B84F-0C040679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25717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FFF4F1"/>
          </a:solidFill>
          <a:ln xmlns:a="http://schemas.openxmlformats.org/drawingml/2006/main" w="14288">
            <a:solidFill>
              <a:srgbClr val="F267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824884-B754-4AC0-9CDA-A5DB7E67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"/>
            <a:ext cx="2228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26755"/>
                </a:solidFill>
                <a:latin typeface="Aptos"/>
                <a:ea typeface="Aptos"/>
                <a:cs typeface="Aptos"/>
              </a:defRPr>
            </a:pPr>
            <a:r>
              <a:t>ANTI-RABBIT-HOLE RULE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4C3E8-1E4D-4DEE-92A4-4286FA3D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9334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t>Make every major step leave a visible checkpoint.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D81029-C8C3-4CF4-94AE-96C62321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10020300" cy="2476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B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3CDCD-9E4D-4550-88FF-4092A5F5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86050"/>
            <a:ext cx="685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After each major step, summarize: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A72E3E-8A7A-4E4A-B5E6-DE165AAF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48050"/>
            <a:ext cx="2419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8F6"/>
          </a:solidFill>
          <a:ln xmlns:a="http://schemas.openxmlformats.org/drawingml/2006/main" w="14288">
            <a:solidFill>
              <a:srgbClr val="F267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BB5BB6-D760-49B0-926B-68444F78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676650"/>
            <a:ext cx="2076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F26755"/>
                </a:solidFill>
                <a:latin typeface="Aptos"/>
                <a:ea typeface="Aptos"/>
                <a:cs typeface="Aptos"/>
              </a:defRPr>
            </a:pPr>
            <a:r>
              <a:t>What changed?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89A005-1589-45F4-983C-BCF1E9D3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48050"/>
            <a:ext cx="2419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8F6"/>
          </a:solidFill>
          <a:ln xmlns:a="http://schemas.openxmlformats.org/drawingml/2006/main" w="14288">
            <a:solidFill>
              <a:srgbClr val="F2C8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9E6A4B-767E-4760-BE47-1A9A8A21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76650"/>
            <a:ext cx="2076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F2C84B"/>
                </a:solidFill>
                <a:latin typeface="Aptos"/>
                <a:ea typeface="Aptos"/>
                <a:cs typeface="Aptos"/>
              </a:defRPr>
            </a:pPr>
            <a:r>
              <a:t>What remains?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0E9D0-1C3B-4D7F-9B63-6FBF1DD9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448050"/>
            <a:ext cx="2419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8F6"/>
          </a:solidFill>
          <a:ln xmlns:a="http://schemas.openxmlformats.org/drawingml/2006/main" w="14288">
            <a:solidFill>
              <a:srgbClr val="51B7A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12FDB7-5F93-4260-9A50-19A23FEC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76650"/>
            <a:ext cx="2076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51B7A3"/>
                </a:solidFill>
                <a:latin typeface="Aptos"/>
                <a:ea typeface="Aptos"/>
                <a:cs typeface="Aptos"/>
              </a:defRPr>
            </a:pPr>
            <a:r>
              <a:t>Where is risk?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D58B02-A3B5-484D-B916-5A9BA34B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257800"/>
            <a:ext cx="8934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2E3640"/>
                </a:solidFill>
                <a:latin typeface="Aptos"/>
                <a:ea typeface="Aptos"/>
                <a:cs typeface="Aptos"/>
              </a:defRPr>
            </a:pPr>
            <a:r>
              <a:t>This is cheap insurance: it turns hidden motion into visible progress.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876F48-3CB5-4110-933D-C39256A3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DD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91EACE-33C7-48CA-A7C3-15CEE761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3714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0707C"/>
                </a:solidFill>
                <a:latin typeface="Aptos"/>
                <a:ea typeface="Aptos"/>
                <a:cs typeface="Aptos"/>
              </a:defRPr>
            </a:pPr>
            <a:r>
              <a:t>Implement Harness Engineering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C760D5-7635-4830-A9BC-DA00188D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3415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60707C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647EFE-732C-40C3-BDB3-06094212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0707C"/>
                </a:solidFill>
                <a:latin typeface="Aptos"/>
                <a:ea typeface="Aptos"/>
                <a:cs typeface="Aptos"/>
              </a:defRPr>
            </a:pPr>
            <a:r>
              <a:t>09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9855EB-CCA7-4809-9DB8-52763C0B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"/>
            <a:ext cx="3314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8F6"/>
          </a:solidFill>
          <a:ln xmlns:a="http://schemas.openxmlformats.org/drawingml/2006/main" w="7620">
            <a:solidFill>
              <a:srgbClr val="D8DE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B868AC-AB9C-48C7-83D6-549C88A4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1475"/>
            <a:ext cx="139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A9694"/>
                </a:solidFill>
                <a:latin typeface="Aptos"/>
                <a:ea typeface="Aptos"/>
                <a:cs typeface="Aptos"/>
              </a:defRPr>
            </a:pPr>
            <a:r>
              <a:t>Salbotics Solutions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5AC9C4-F487-413B-9E37-052DECA8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71475"/>
            <a:ext cx="156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9AA4A2"/>
                </a:solidFill>
                <a:latin typeface="Aptos"/>
                <a:ea typeface="Aptos"/>
                <a:cs typeface="Aptos"/>
              </a:defRPr>
            </a:pPr>
            <a:r>
              <a:t>Built for Real World, Not Textbook.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48A8F9-EDB4-4769-B713-24807350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61975"/>
            <a:ext cx="14668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1B7A3"/>
          </a:solidFill>
        </p:spPr>
      </p:sp>
    </p:spTree>
    <p:extLst>
      <p:ext uri="{BB962C8B-B14F-4D97-AF65-F5344CB8AC3E}">
        <p14:creationId xmlns:p14="http://schemas.microsoft.com/office/powerpoint/2010/main" val="176427104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B092A6-C848-4378-A3DF-E325B8DC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6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9F79F-ACFF-42F0-9670-A7F6AE5E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B7A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589F9-1A63-4F28-B74B-D5B5C530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25717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FFF4F1"/>
          </a:solidFill>
          <a:ln xmlns:a="http://schemas.openxmlformats.org/drawingml/2006/main" w="14288">
            <a:solidFill>
              <a:srgbClr val="F267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E564B-9F8E-4B5B-B0AD-BC6852E7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"/>
            <a:ext cx="2228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26755"/>
                </a:solidFill>
                <a:latin typeface="Aptos"/>
                <a:ea typeface="Aptos"/>
                <a:cs typeface="Aptos"/>
              </a:defRPr>
            </a:pPr>
            <a:r>
              <a:t>NEXT STAGE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EB6FA-452B-4BFD-911C-829756FC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9334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t>Turn one repeated task into one context pack.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970DC-E388-4B21-BEDA-11F8AD7D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3143250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4F1"/>
          </a:solidFill>
          <a:ln xmlns:a="http://schemas.openxmlformats.org/drawingml/2006/main" w="9525">
            <a:solidFill>
              <a:srgbClr val="F267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619AED-80C0-4026-B0D6-55A1BF55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90800"/>
            <a:ext cx="2686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F26755"/>
                </a:solidFill>
                <a:latin typeface="Aptos"/>
                <a:ea typeface="Aptos"/>
                <a:cs typeface="Aptos"/>
              </a:defRPr>
            </a:pPr>
            <a:r>
              <a:t>Today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985348-3BF9-4F9C-9BEC-E379A270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00400"/>
            <a:ext cx="24193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Pick one task you repeat often.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C5AE64-F8C1-43D6-8CEC-F3B8FA7D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43150"/>
            <a:ext cx="3143250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8DF"/>
          </a:solidFill>
          <a:ln xmlns:a="http://schemas.openxmlformats.org/drawingml/2006/main" w="9525">
            <a:solidFill>
              <a:srgbClr val="F2C8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EF2FC4-5C08-47BF-A0F5-C242D038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90800"/>
            <a:ext cx="2705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F2C84B"/>
                </a:solidFill>
                <a:latin typeface="Aptos"/>
                <a:ea typeface="Aptos"/>
                <a:cs typeface="Aptos"/>
              </a:defRPr>
            </a:pPr>
            <a:r>
              <a:t>This week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F8D6AC-F80D-4F8B-91BA-506F3B5A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43250"/>
            <a:ext cx="24193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Build one context pack. Use it three times.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99780F-788D-44DE-918B-131081F0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43150"/>
            <a:ext cx="3143250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0FBF8"/>
          </a:solidFill>
          <a:ln xmlns:a="http://schemas.openxmlformats.org/drawingml/2006/main" w="9525">
            <a:solidFill>
              <a:srgbClr val="51B7A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2A796A-3AEE-4779-9E6E-8A1639EF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90800"/>
            <a:ext cx="2686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51B7A3"/>
                </a:solidFill>
                <a:latin typeface="Aptos"/>
                <a:ea typeface="Aptos"/>
                <a:cs typeface="Aptos"/>
              </a:defRPr>
            </a:pPr>
            <a:r>
              <a:t>Next week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151E4B-2D2D-463C-8E13-B29A1E32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19450"/>
            <a:ext cx="24193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Improve it once. Share it with one person.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1DD4D9-4931-4500-919F-A7E8797C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24450"/>
            <a:ext cx="101346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325" b="1" i="0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t>Your expertise is the context. Harness engineering is how you make AI use it without dragging you into the hole.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1F953F-8C93-45A0-A445-1181EE45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DD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D99E85-2238-4F37-BFD4-3FCA7744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3714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0707C"/>
                </a:solidFill>
                <a:latin typeface="Aptos"/>
                <a:ea typeface="Aptos"/>
                <a:cs typeface="Aptos"/>
              </a:defRPr>
            </a:pPr>
            <a:r>
              <a:t>Implement Harness Engineering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D38E42-4E75-4A5B-89F5-8D249B9A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3415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60707C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36394B-80B8-468E-9307-BFD7ECA4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0707C"/>
                </a:solidFill>
                <a:latin typeface="Aptos"/>
                <a:ea typeface="Aptos"/>
                <a:cs typeface="Aptos"/>
              </a:defRPr>
            </a:pPr>
            <a:r>
              <a:t>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57E757-5BB7-4531-8E18-AD4706BD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"/>
            <a:ext cx="3314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8F6"/>
          </a:solidFill>
          <a:ln xmlns:a="http://schemas.openxmlformats.org/drawingml/2006/main" w="7620">
            <a:solidFill>
              <a:srgbClr val="D8DE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21BF8E-D157-4E9B-9EDD-8EC2E5A7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1475"/>
            <a:ext cx="139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A9694"/>
                </a:solidFill>
                <a:latin typeface="Aptos"/>
                <a:ea typeface="Aptos"/>
                <a:cs typeface="Aptos"/>
              </a:defRPr>
            </a:pPr>
            <a:r>
              <a:t>Salbotics Solutions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1061CA-8692-40F2-95F8-258B60A8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71475"/>
            <a:ext cx="156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9AA4A2"/>
                </a:solidFill>
                <a:latin typeface="Aptos"/>
                <a:ea typeface="Aptos"/>
                <a:cs typeface="Aptos"/>
              </a:defRPr>
            </a:pPr>
            <a:r>
              <a:t>Built for Real World, Not Textbook.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C79290-0F72-4264-8BCE-0F2D9611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61975"/>
            <a:ext cx="14668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1B7A3"/>
          </a:solidFill>
        </p:spPr>
      </p:sp>
    </p:spTree>
    <p:extLst>
      <p:ext uri="{BB962C8B-B14F-4D97-AF65-F5344CB8AC3E}">
        <p14:creationId xmlns:p14="http://schemas.microsoft.com/office/powerpoint/2010/main" val="9532365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2026-05-29T13:23:53.6950000Z</dcterms:created>
  <dcterms:modified xsi:type="dcterms:W3CDTF">2026-05-29T13:23:53.6950000Z</dcterms:modified>
</coreProperties>
</file>